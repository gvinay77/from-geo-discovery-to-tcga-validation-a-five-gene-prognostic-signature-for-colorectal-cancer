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1FD4-3380-1C96-B74E-2123F6551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A8EFA-6C9D-47B2-2B47-722FCC1A2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C2412-97F8-4269-9B90-4378BB37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2962E-A0C8-E62C-323A-9356DAF6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F867-72B9-E282-2D10-464150BD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19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A9B2-DE92-8654-0185-BCEC84DB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70BE-5058-0C17-656B-2FC539D5A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6B9C-EC75-5D53-C670-6A7460AA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E9CC6-1151-3BAA-9424-CB98ADD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51E5-E694-C888-471F-8D5D2D4F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19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448-D8B2-B03A-E5F5-DC00403C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C8E6A-3FED-0A44-9237-390F7709A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38310-C35D-0DFB-D83E-5B1A3A2E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204CC-4BCC-3640-CAFA-7558521C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C914-734D-F355-15B3-226C259B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0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AF26-B04A-FC18-0530-F5623756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C2F8-1B5D-466F-011A-7B6BBA7A7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DF004-C96D-A973-F14B-D9299B977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12A5-7224-C354-FA56-7A67F159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ACDFC-C463-0D8D-C266-10C7579A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A4AB5-2143-FB41-65DF-3D62EA4D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45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DAE9-AB4F-C1BC-A550-46D9DB80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B2D64-E140-2833-B4C1-4AA6A9595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9AB36-9F3C-85F0-2011-15AB1B825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5379B-72DC-B095-C37D-564F47EE0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2110C-FBFE-3EB5-32C0-8D833D7D4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BCDDD-E4FB-F3A7-8C89-AB1DCEFA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5D624-258D-CACD-BF7F-F3EC9D41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56DCE-716F-010E-C16E-F57B2758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0E32-C09F-7ACB-D361-EC6DBA80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C7BCC-52BD-0F4B-AFEF-5EECF44E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574FF-C4D4-C3A1-B4D9-48D7279D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78FA8-6676-8E38-F655-B07C0036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6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B4591-FCC6-B299-B064-8C6B7C64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66CE7-CA94-4444-9152-41AF67C7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18F5A-519C-786C-348F-7A5A2A80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2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6BE2-BEEE-69A9-62A5-FDC749A6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45CB-1A03-BC9D-FA6B-82A9F9010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8F24D-5F47-6472-2614-06753895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DD38A-7FB9-C88C-D3A3-16BB6B0D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E48AC-3D43-C6A1-AA39-D1C2044F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ADCAA-9C7C-1E5A-A9B7-71947E8B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29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A786-2A80-07D2-9739-B6848DBF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76542-2D9B-CD52-64AA-48E7DBE1C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5DE6D-CDB0-7556-9ADA-8853278EB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9F0A9-8D81-66F3-075E-AEE78774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2437-EEDA-AA9C-C7F0-A5EBE003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88B8F-6159-AD4E-7801-D87FBB5B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8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1876-4297-E7CD-1D3D-6D09B408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BC24C-E238-7F38-EB6A-2371EE5E3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1728-849A-24B9-8BF4-9324D4E9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B8C5E-3A43-C221-AA3F-3319ED44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2B30E-FDA1-80B8-F088-24FE4A6A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5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A1D5D-5AE5-26A3-BA6B-D33BD3213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E332D-A187-3BEE-9AD2-EE145572D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72355-9911-8D26-BF8D-19E72327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A83A2-0B77-4C4C-9D45-8EFF2AD4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E4B70-7D81-6E12-8D2F-84D8619F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32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63281-B8E2-FD12-886B-0D09754E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39EE-AF49-206A-9656-0D2D8EDA1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568D-E0B5-C09E-A23B-0C5D97F0B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8E7E1-27FD-493A-B6E5-71E40119E4D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9660-FB65-7425-C7A3-22D67759A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0B89-15C2-903A-1FFC-AB3CB29EC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A760D-34D3-429D-9C03-3B47612C1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0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4902-2C4B-9ECB-4924-9520054F2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Integrated transcriptomic analysis identifies a prognostic immune-exclusion signature in colorectal adenocarcinoma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F7077-DFAD-2633-A6D1-F6F77067A0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Name: vinay Gundala </a:t>
            </a:r>
          </a:p>
          <a:p>
            <a:r>
              <a:rPr lang="en-US" dirty="0"/>
              <a:t> MSc Bioinformatics</a:t>
            </a:r>
          </a:p>
          <a:p>
            <a:r>
              <a:rPr lang="en-US" dirty="0"/>
              <a:t> supervisor: Dr. </a:t>
            </a:r>
            <a:r>
              <a:rPr lang="en-US" dirty="0" err="1"/>
              <a:t>swetha</a:t>
            </a:r>
            <a:r>
              <a:rPr lang="en-US" dirty="0"/>
              <a:t> </a:t>
            </a:r>
            <a:r>
              <a:rPr lang="en-US" dirty="0" err="1"/>
              <a:t>kuba</a:t>
            </a:r>
            <a:endParaRPr lang="en-US" dirty="0"/>
          </a:p>
          <a:p>
            <a:r>
              <a:rPr lang="en-US" dirty="0"/>
              <a:t> 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F51C0D-8C0A-DD63-BCFC-D567DFCF47BC}"/>
              </a:ext>
            </a:extLst>
          </p:cNvPr>
          <p:cNvSpPr txBox="1"/>
          <p:nvPr/>
        </p:nvSpPr>
        <p:spPr>
          <a:xfrm>
            <a:off x="816427" y="370114"/>
            <a:ext cx="5998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Clinical / Biological Motivation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9D20D58-99F5-B65F-70D7-3E054963678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77686" y="1229585"/>
            <a:ext cx="88065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 is heterogeneous; immune contexture strongly influences survival and therapy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Immune exclusion = low immune infiltration + stromal/ECM barrier → poor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signatures that generalize across cohorts and platforms</a:t>
            </a:r>
          </a:p>
        </p:txBody>
      </p:sp>
    </p:spTree>
    <p:extLst>
      <p:ext uri="{BB962C8B-B14F-4D97-AF65-F5344CB8AC3E}">
        <p14:creationId xmlns:p14="http://schemas.microsoft.com/office/powerpoint/2010/main" val="45342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2C0E8-591C-7F8B-8C02-B9CAC8781D40}"/>
              </a:ext>
            </a:extLst>
          </p:cNvPr>
          <p:cNvSpPr txBox="1"/>
          <p:nvPr/>
        </p:nvSpPr>
        <p:spPr>
          <a:xfrm>
            <a:off x="544286" y="4249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Datasets</a:t>
            </a:r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FCDA8-E38B-403F-D202-946D2C9F126A}"/>
              </a:ext>
            </a:extLst>
          </p:cNvPr>
          <p:cNvSpPr txBox="1"/>
          <p:nvPr/>
        </p:nvSpPr>
        <p:spPr>
          <a:xfrm>
            <a:off x="805543" y="1306286"/>
            <a:ext cx="47897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Discovery</a:t>
            </a:r>
            <a:endParaRPr lang="en-IN" dirty="0"/>
          </a:p>
          <a:p>
            <a:r>
              <a:rPr lang="en-IN" b="1" dirty="0"/>
              <a:t>TCGA-COAD + TCGA-READ</a:t>
            </a:r>
            <a:endParaRPr lang="en-IN" dirty="0"/>
          </a:p>
          <a:p>
            <a:r>
              <a:rPr lang="en-IN" dirty="0"/>
              <a:t>Data: RNA-</a:t>
            </a:r>
            <a:r>
              <a:rPr lang="en-IN" dirty="0" err="1"/>
              <a:t>seq</a:t>
            </a:r>
            <a:r>
              <a:rPr lang="en-IN" dirty="0"/>
              <a:t>, clinical survival</a:t>
            </a:r>
          </a:p>
          <a:p>
            <a:r>
              <a:rPr lang="en-IN" dirty="0"/>
              <a:t>Used for immune scoring, DE, model training</a:t>
            </a:r>
          </a:p>
          <a:p>
            <a:r>
              <a:rPr lang="en-IN" b="1" dirty="0"/>
              <a:t>Validation</a:t>
            </a:r>
            <a:endParaRPr lang="en-IN" dirty="0"/>
          </a:p>
          <a:p>
            <a:r>
              <a:rPr lang="en-IN" b="1" dirty="0"/>
              <a:t>GSE39582 (GPL570 microarray)</a:t>
            </a:r>
            <a:endParaRPr lang="en-IN" dirty="0"/>
          </a:p>
          <a:p>
            <a:r>
              <a:rPr lang="en-IN" dirty="0"/>
              <a:t>Large independent cohort + long follow-up</a:t>
            </a:r>
          </a:p>
          <a:p>
            <a:r>
              <a:rPr lang="en-IN" dirty="0"/>
              <a:t>Cross-platform test of robustness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21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740B1A-FCC1-BDC9-4B81-ABE61C1B15E7}"/>
              </a:ext>
            </a:extLst>
          </p:cNvPr>
          <p:cNvSpPr txBox="1"/>
          <p:nvPr/>
        </p:nvSpPr>
        <p:spPr>
          <a:xfrm>
            <a:off x="587829" y="329311"/>
            <a:ext cx="4386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Slide 4 — Workflow Overview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F2E0A5-B7DD-ECAA-65E5-E38705CAD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76" y="2819476"/>
            <a:ext cx="1219048" cy="1219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9DEBC2-43D4-47F3-B9CA-C141DC9BF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75" b="6191"/>
          <a:stretch>
            <a:fillRect/>
          </a:stretch>
        </p:blipFill>
        <p:spPr>
          <a:xfrm>
            <a:off x="3526972" y="897929"/>
            <a:ext cx="6215742" cy="5327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234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AB814-0C8E-D956-6FE7-0CCF6FBAEACF}"/>
              </a:ext>
            </a:extLst>
          </p:cNvPr>
          <p:cNvSpPr txBox="1"/>
          <p:nvPr/>
        </p:nvSpPr>
        <p:spPr>
          <a:xfrm>
            <a:off x="1153886" y="81732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Immune phenotype definition (</a:t>
            </a:r>
            <a:r>
              <a:rPr lang="en-IN" b="1" dirty="0" err="1"/>
              <a:t>ssGSEA</a:t>
            </a:r>
            <a:r>
              <a:rPr lang="en-IN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Immune infiltration gene set (10 genes)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Stromal/ECM barrier gene set (12 genes)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Quartile-based definition: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Immune Excluded</a:t>
            </a:r>
            <a:r>
              <a:rPr lang="en-IN" dirty="0"/>
              <a:t> = immune low (Q1) + stromal high (Q4)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Immune Inflamed</a:t>
            </a:r>
            <a:r>
              <a:rPr lang="en-IN" dirty="0"/>
              <a:t> = immune high (Q4) + stromal low (Q1)</a:t>
            </a:r>
          </a:p>
          <a:p>
            <a:pPr>
              <a:buNone/>
            </a:pPr>
            <a:r>
              <a:rPr lang="en-IN" dirty="0"/>
              <a:t>Report your counts: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Immune_Excluded</a:t>
            </a:r>
            <a:r>
              <a:rPr lang="en-IN" dirty="0"/>
              <a:t>: </a:t>
            </a:r>
            <a:r>
              <a:rPr lang="en-IN" b="1" dirty="0"/>
              <a:t>20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Immune_Inflamed</a:t>
            </a:r>
            <a:r>
              <a:rPr lang="en-IN" dirty="0"/>
              <a:t>: </a:t>
            </a:r>
            <a:r>
              <a:rPr lang="en-IN" b="1" dirty="0"/>
              <a:t>21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Other: </a:t>
            </a:r>
            <a:r>
              <a:rPr lang="en-IN" b="1" dirty="0"/>
              <a:t>660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90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48D42-49A1-E2C4-99C7-72195F04C38E}"/>
              </a:ext>
            </a:extLst>
          </p:cNvPr>
          <p:cNvSpPr txBox="1"/>
          <p:nvPr/>
        </p:nvSpPr>
        <p:spPr>
          <a:xfrm>
            <a:off x="283028" y="457200"/>
            <a:ext cx="5007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Slide 6 — Differential Expression (Excluded vs Inflamed)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limma-</a:t>
            </a:r>
            <a:r>
              <a:rPr lang="en-IN" dirty="0" err="1"/>
              <a:t>voom</a:t>
            </a:r>
            <a:r>
              <a:rPr lang="en-IN" dirty="0"/>
              <a:t> on </a:t>
            </a:r>
            <a:r>
              <a:rPr lang="en-IN" b="1" dirty="0"/>
              <a:t>STAR counts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FDR and fold-change thresholds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Significant genes: </a:t>
            </a:r>
            <a:r>
              <a:rPr lang="en-IN" b="1" dirty="0"/>
              <a:t>3312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Strict set (FDR &lt; 0.01, |</a:t>
            </a:r>
            <a:r>
              <a:rPr lang="en-IN" dirty="0" err="1"/>
              <a:t>logFC</a:t>
            </a:r>
            <a:r>
              <a:rPr lang="en-IN" dirty="0"/>
              <a:t>| &gt; 1.5): </a:t>
            </a:r>
            <a:r>
              <a:rPr lang="en-IN" b="1" dirty="0"/>
              <a:t>1356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642FA-73F4-CCE1-05C6-DE9C3065E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2799553"/>
            <a:ext cx="5087711" cy="3139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C3714-7465-83E9-4138-002C0778D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285" y="161314"/>
            <a:ext cx="4898572" cy="30231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990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7F2937-B600-599D-68CD-038DD444D883}"/>
              </a:ext>
            </a:extLst>
          </p:cNvPr>
          <p:cNvSpPr txBox="1"/>
          <p:nvPr/>
        </p:nvSpPr>
        <p:spPr>
          <a:xfrm>
            <a:off x="892629" y="6764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7 — Enrichment (what biology is showing)</a:t>
            </a:r>
          </a:p>
          <a:p>
            <a:pPr>
              <a:buNone/>
            </a:pPr>
            <a:r>
              <a:rPr lang="en-US" dirty="0"/>
              <a:t>Show </a:t>
            </a:r>
            <a:r>
              <a:rPr lang="en-US" dirty="0" err="1"/>
              <a:t>dotplot</a:t>
            </a:r>
            <a:r>
              <a:rPr lang="en-US" dirty="0"/>
              <a:t> (GO BP and/or KEGG).</a:t>
            </a:r>
            <a:br>
              <a:rPr lang="en-US" dirty="0"/>
            </a:br>
            <a:r>
              <a:rPr lang="en-US" dirty="0"/>
              <a:t>In bullets: the top themes you actually observed (e.g., ECM organization, TGF-β/WNT-related processes, immune signaling).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28948-4531-960D-CCA0-94156546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14" y="2500992"/>
            <a:ext cx="5194653" cy="32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7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9AD5BF-D412-4422-3866-ADFA67988362}"/>
              </a:ext>
            </a:extLst>
          </p:cNvPr>
          <p:cNvSpPr txBox="1"/>
          <p:nvPr/>
        </p:nvSpPr>
        <p:spPr>
          <a:xfrm>
            <a:off x="674913" y="4599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Building the prognostic signature (TCGA)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Survival 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Removed time ≤ 0 (Cox requirement)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TCGA samples with survival: </a:t>
            </a:r>
            <a:r>
              <a:rPr lang="en-IN" b="1" dirty="0"/>
              <a:t>665</a:t>
            </a:r>
            <a:r>
              <a:rPr lang="en-IN" dirty="0"/>
              <a:t>, events: </a:t>
            </a:r>
            <a:r>
              <a:rPr lang="en-IN" b="1" dirty="0"/>
              <a:t>140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Feature selection: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Univariate Cox ranking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Top 300 entered LASSO Cox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selection: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Chose lambda giving </a:t>
            </a:r>
            <a:r>
              <a:rPr lang="en-IN" b="1" dirty="0"/>
              <a:t>13 genes</a:t>
            </a:r>
            <a:r>
              <a:rPr lang="en-IN" dirty="0"/>
              <a:t> (parsimony + stability)</a:t>
            </a:r>
          </a:p>
        </p:txBody>
      </p:sp>
    </p:spTree>
    <p:extLst>
      <p:ext uri="{BB962C8B-B14F-4D97-AF65-F5344CB8AC3E}">
        <p14:creationId xmlns:p14="http://schemas.microsoft.com/office/powerpoint/2010/main" val="7211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7149-AAC2-555C-A1BD-FBD3CAD15222}"/>
              </a:ext>
            </a:extLst>
          </p:cNvPr>
          <p:cNvSpPr txBox="1"/>
          <p:nvPr/>
        </p:nvSpPr>
        <p:spPr>
          <a:xfrm>
            <a:off x="1132115" y="97642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TCGA Discovery Performance (Key Numbers)</a:t>
            </a:r>
          </a:p>
          <a:p>
            <a:pPr>
              <a:buNone/>
            </a:pPr>
            <a:r>
              <a:rPr lang="en-US" b="1" dirty="0"/>
              <a:t>Continuous Cox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HR = </a:t>
            </a:r>
            <a:r>
              <a:rPr lang="en-US" b="1" dirty="0"/>
              <a:t>21.6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95% CI: </a:t>
            </a:r>
            <a:r>
              <a:rPr lang="en-US" b="1" dirty="0"/>
              <a:t>11.27–41.39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 &lt; </a:t>
            </a:r>
            <a:r>
              <a:rPr lang="en-US" b="1" dirty="0"/>
              <a:t>2e-16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C-index ≈ </a:t>
            </a:r>
            <a:r>
              <a:rPr lang="en-US" b="1" dirty="0"/>
              <a:t>0.702</a:t>
            </a:r>
            <a:endParaRPr lang="en-US" dirty="0"/>
          </a:p>
          <a:p>
            <a:pPr>
              <a:buNone/>
            </a:pPr>
            <a:r>
              <a:rPr lang="en-US" dirty="0"/>
              <a:t>(Show TCGA KM plot High vs Low.)</a:t>
            </a:r>
          </a:p>
        </p:txBody>
      </p:sp>
    </p:spTree>
    <p:extLst>
      <p:ext uri="{BB962C8B-B14F-4D97-AF65-F5344CB8AC3E}">
        <p14:creationId xmlns:p14="http://schemas.microsoft.com/office/powerpoint/2010/main" val="190031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68F06-18A7-7A27-A2FE-976DAAAE716D}"/>
              </a:ext>
            </a:extLst>
          </p:cNvPr>
          <p:cNvSpPr txBox="1"/>
          <p:nvPr/>
        </p:nvSpPr>
        <p:spPr>
          <a:xfrm>
            <a:off x="751115" y="58085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External Validation (GSE39582)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 mapping: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Probe → gene symbol (GPL570)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Collapsed probes to gene-level (mean)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Matched </a:t>
            </a:r>
            <a:r>
              <a:rPr lang="en-IN" b="1" dirty="0"/>
              <a:t>12/13 genes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Validation cohort: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 = </a:t>
            </a:r>
            <a:r>
              <a:rPr lang="en-IN" b="1" dirty="0"/>
              <a:t>573</a:t>
            </a:r>
            <a:r>
              <a:rPr lang="en-IN" dirty="0"/>
              <a:t>, events = </a:t>
            </a:r>
            <a:r>
              <a:rPr lang="en-IN" b="1" dirty="0"/>
              <a:t>190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Continuous Cox: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HR = </a:t>
            </a:r>
            <a:r>
              <a:rPr lang="en-IN" b="1" dirty="0"/>
              <a:t>1.98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95% CI: </a:t>
            </a:r>
            <a:r>
              <a:rPr lang="en-IN" b="1" dirty="0"/>
              <a:t>1.23–3.19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 = </a:t>
            </a:r>
            <a:r>
              <a:rPr lang="en-IN" b="1" dirty="0"/>
              <a:t>0.005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C-index ≈ </a:t>
            </a:r>
            <a:r>
              <a:rPr lang="en-IN" b="1" dirty="0"/>
              <a:t>0.556</a:t>
            </a:r>
            <a:br>
              <a:rPr lang="en-IN" dirty="0"/>
            </a:br>
            <a:r>
              <a:rPr lang="en-IN" dirty="0"/>
              <a:t>(Show validation KM plot.)</a:t>
            </a:r>
          </a:p>
        </p:txBody>
      </p:sp>
    </p:spTree>
    <p:extLst>
      <p:ext uri="{BB962C8B-B14F-4D97-AF65-F5344CB8AC3E}">
        <p14:creationId xmlns:p14="http://schemas.microsoft.com/office/powerpoint/2010/main" val="4139511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F0447-C60B-A9A4-CD5C-33C80E046488}"/>
              </a:ext>
            </a:extLst>
          </p:cNvPr>
          <p:cNvSpPr txBox="1"/>
          <p:nvPr/>
        </p:nvSpPr>
        <p:spPr>
          <a:xfrm>
            <a:off x="1066800" y="41941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Independence from Stage + Incremental Value</a:t>
            </a:r>
          </a:p>
          <a:p>
            <a:pPr>
              <a:buNone/>
            </a:pPr>
            <a:r>
              <a:rPr lang="en-US" b="1" dirty="0"/>
              <a:t>Multivariate (risk + stage)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risk_score</a:t>
            </a:r>
            <a:r>
              <a:rPr lang="en-US" dirty="0"/>
              <a:t> HR = </a:t>
            </a:r>
            <a:r>
              <a:rPr lang="en-US" b="1" dirty="0"/>
              <a:t>1.90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95% CI: </a:t>
            </a:r>
            <a:r>
              <a:rPr lang="en-US" b="1" dirty="0"/>
              <a:t>1.16–3.13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 = </a:t>
            </a:r>
            <a:r>
              <a:rPr lang="en-US" b="1" dirty="0"/>
              <a:t>0.011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C-index combined ≈ </a:t>
            </a:r>
            <a:r>
              <a:rPr lang="en-US" b="1" dirty="0"/>
              <a:t>0.662</a:t>
            </a:r>
            <a:endParaRPr lang="en-US" dirty="0"/>
          </a:p>
          <a:p>
            <a:pPr>
              <a:buNone/>
            </a:pPr>
            <a:r>
              <a:rPr lang="en-US" b="1" dirty="0"/>
              <a:t>C-index comparison (validation cohort)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Stage only: </a:t>
            </a:r>
            <a:r>
              <a:rPr lang="en-US" b="1" dirty="0"/>
              <a:t>0.634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Signature only: </a:t>
            </a:r>
            <a:r>
              <a:rPr lang="en-US" b="1" dirty="0"/>
              <a:t>0.556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Stage + signature: </a:t>
            </a:r>
            <a:r>
              <a:rPr lang="en-US" b="1" dirty="0"/>
              <a:t>0.662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280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F1CF41B-84DD-B5B0-E7BE-F50B6639C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3" y="574610"/>
            <a:ext cx="3477496" cy="2732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A16831-87FF-7A22-A8AC-952BBE2C1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86" y="3374573"/>
            <a:ext cx="3233063" cy="32330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B414F3-1ACE-CD56-813A-BF085A5B0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515" y="744505"/>
            <a:ext cx="3045036" cy="2392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371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714068-5A6E-9F94-0397-81B36488D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543" y="824209"/>
            <a:ext cx="5080006" cy="4354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18E0F9-A66E-6E34-34BD-B0F540101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8" y="824209"/>
            <a:ext cx="4088946" cy="4673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703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23EDC-F026-202E-D55A-9863081C25C2}"/>
              </a:ext>
            </a:extLst>
          </p:cNvPr>
          <p:cNvSpPr txBox="1"/>
          <p:nvPr/>
        </p:nvSpPr>
        <p:spPr>
          <a:xfrm>
            <a:off x="870857" y="49980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Conclusions + Next steps</a:t>
            </a:r>
          </a:p>
          <a:p>
            <a:pPr>
              <a:buNone/>
            </a:pPr>
            <a:r>
              <a:rPr lang="en-IN" b="1" dirty="0"/>
              <a:t>Conclusions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Defined immune exclusion using </a:t>
            </a:r>
            <a:r>
              <a:rPr lang="en-IN" dirty="0" err="1"/>
              <a:t>ssGSEA</a:t>
            </a:r>
            <a:r>
              <a:rPr lang="en-IN" dirty="0"/>
              <a:t> immune/stromal axes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Identified exclusion-associated DE genes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a compact </a:t>
            </a:r>
            <a:r>
              <a:rPr lang="en-IN" b="1" dirty="0"/>
              <a:t>13-gene</a:t>
            </a:r>
            <a:r>
              <a:rPr lang="en-IN" dirty="0"/>
              <a:t> prognostic signature in TCGA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Validated externally</a:t>
            </a:r>
            <a:r>
              <a:rPr lang="en-IN" dirty="0"/>
              <a:t> in GSE39582 and remains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Adds prognostic value beyond TNM stage</a:t>
            </a:r>
          </a:p>
          <a:p>
            <a:pPr>
              <a:buNone/>
            </a:pPr>
            <a:r>
              <a:rPr lang="en-IN" b="1" dirty="0"/>
              <a:t>Next steps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Time-dependent ROC (1/3/5 yr AUC) in both cohorts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Report calibration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Biological interpretation: brief literature links for top genes (WNT5A, INHBB, XCL1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Sensitivity analyses: different </a:t>
            </a:r>
            <a:r>
              <a:rPr lang="en-IN" dirty="0" err="1"/>
              <a:t>cutpoints</a:t>
            </a:r>
            <a:r>
              <a:rPr lang="en-IN" dirty="0"/>
              <a:t> (tertiles), or continuous-only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Package your code as a reproducible </a:t>
            </a:r>
            <a:r>
              <a:rPr lang="en-IN" dirty="0" err="1"/>
              <a:t>RMarkdown</a:t>
            </a:r>
            <a:r>
              <a:rPr lang="en-IN" dirty="0"/>
              <a:t> + Git repo</a:t>
            </a:r>
          </a:p>
        </p:txBody>
      </p:sp>
    </p:spTree>
    <p:extLst>
      <p:ext uri="{BB962C8B-B14F-4D97-AF65-F5344CB8AC3E}">
        <p14:creationId xmlns:p14="http://schemas.microsoft.com/office/powerpoint/2010/main" val="130711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Integrated transcriptomic analysis identifies a prognostic immune-exclusion signature in colorectal adenocarcinoma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Neyandar</dc:creator>
  <cp:lastModifiedBy>john Neyandar</cp:lastModifiedBy>
  <cp:revision>1</cp:revision>
  <dcterms:created xsi:type="dcterms:W3CDTF">2026-02-22T14:59:03Z</dcterms:created>
  <dcterms:modified xsi:type="dcterms:W3CDTF">2026-02-22T14:59:29Z</dcterms:modified>
</cp:coreProperties>
</file>